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 w="12700">
            <a:solidFill>
              <a:srgbClr val="09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822960"/>
            <a:ext cx="3383280" cy="3383280"/>
          </a:xfrm>
          <a:prstGeom prst="ellipse">
            <a:avLst/>
          </a:prstGeom>
          <a:solidFill>
            <a:srgbClr val="FFB347">
              <a:alpha val="22000"/>
            </a:srgbClr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389120"/>
            <a:ext cx="2468880" cy="2468880"/>
          </a:xfrm>
          <a:prstGeom prst="ellipse">
            <a:avLst/>
          </a:prstGeom>
          <a:solidFill>
            <a:srgbClr val="67A9FF">
              <a:alpha val="16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120640"/>
            <a:ext cx="2560320" cy="256032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858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5087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3172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5468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006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6235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530352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32B3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63093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POST-PRODUCTION READINESS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8368" y="12801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NextStop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Readiness Deck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6656" y="307238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production status, local release readiness, and the highest-impact hardening moves for the next 60 days.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76656" y="4096512"/>
            <a:ext cx="2331720" cy="310896"/>
          </a:xfrm>
          <a:prstGeom prst="roundRect">
            <a:avLst>
              <a:gd name="adj" fmla="val 29412"/>
            </a:avLst>
          </a:prstGeom>
          <a:solidFill>
            <a:srgbClr val="67A9FF">
              <a:alpha val="88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1422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+ Railway + Supabase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63824" y="4096512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63824" y="41422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25696" y="4096512"/>
            <a:ext cx="2011680" cy="310896"/>
          </a:xfrm>
          <a:prstGeom prst="roundRect">
            <a:avLst>
              <a:gd name="adj" fmla="val 29412"/>
            </a:avLst>
          </a:prstGeom>
          <a:solidFill>
            <a:srgbClr val="5EEAD4">
              <a:alpha val="88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25696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Founder / operator version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03720" y="1005840"/>
            <a:ext cx="4526280" cy="4526280"/>
          </a:xfrm>
          <a:prstGeom prst="roundRect">
            <a:avLst>
              <a:gd name="adj" fmla="val 2424"/>
            </a:avLst>
          </a:prstGeom>
          <a:solidFill>
            <a:srgbClr val="0F141D"/>
          </a:solidFill>
          <a:ln w="12700">
            <a:solidFill>
              <a:srgbClr val="222A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1481328"/>
            <a:ext cx="3291840" cy="3291840"/>
          </a:xfrm>
          <a:prstGeom prst="ellipse">
            <a:avLst/>
          </a:prstGeom>
          <a:solidFill>
            <a:srgbClr val="FFB347">
              <a:alpha val="8000"/>
            </a:srgbClr>
          </a:solidFill>
          <a:ln w="19050">
            <a:solidFill>
              <a:srgbClr val="FFB347">
                <a:alpha val="3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73568" y="1956816"/>
            <a:ext cx="2340864" cy="2340864"/>
          </a:xfrm>
          <a:prstGeom prst="ellipse">
            <a:avLst/>
          </a:prstGeom>
          <a:solidFill>
            <a:srgbClr val="5EEAD4">
              <a:alpha val="8000"/>
            </a:srgbClr>
          </a:solidFill>
          <a:ln w="15240">
            <a:solidFill>
              <a:srgbClr val="5EEAD4">
                <a:alpha val="3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77072" y="2560320"/>
            <a:ext cx="1133856" cy="1133856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60920" y="4892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now.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 next.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406640" y="541324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Readiness is no longer about whether the product exists. It is about operational clarity, recoverability, and confidence.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658368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NextStop readiness deck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74420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 w="12700">
            <a:solidFill>
              <a:srgbClr val="09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822960"/>
            <a:ext cx="3383280" cy="3383280"/>
          </a:xfrm>
          <a:prstGeom prst="ellipse">
            <a:avLst/>
          </a:prstGeom>
          <a:solidFill>
            <a:srgbClr val="67A9FF">
              <a:alpha val="22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389120"/>
            <a:ext cx="2468880" cy="2468880"/>
          </a:xfrm>
          <a:prstGeom prst="ellipse">
            <a:avLst/>
          </a:prstGeom>
          <a:solidFill>
            <a:srgbClr val="67A9FF">
              <a:alpha val="16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120640"/>
            <a:ext cx="2560320" cy="256032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858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5087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3172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5468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006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6235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669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SNAPSHOT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82296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truths define the current release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58368" y="1554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product is real and usable. The local branch is materially stronger and should be the next production push.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3232" y="187452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9264" y="20756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PRODUCTION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50976" y="2313432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3.5 / 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69264" y="30358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 for controlled production, but still needs operational hardening.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19856" y="187452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75888" y="20756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RELEASE READY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0" y="2313432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4.1 / 5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3675888" y="30358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release candidate with better visibility, export telemetry, and post-deploy verification.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72200" y="1874520"/>
            <a:ext cx="5266944" cy="1691640"/>
          </a:xfrm>
          <a:prstGeom prst="roundRect">
            <a:avLst>
              <a:gd name="adj" fmla="val 6486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37376" y="2121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changed the most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37376" y="24323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37376" y="2688336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 now clearly owns heavy AI execution instead of bouncing jobs back through Vercel.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new ops surface gives a fast, in-app answer to whether production is healthy.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actions now have real failure and duration telemetry instead of black-box behavior.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3232" y="3986784"/>
            <a:ext cx="10716768" cy="1719072"/>
          </a:xfrm>
          <a:prstGeom prst="roundRect">
            <a:avLst>
              <a:gd name="adj" fmla="val 6383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9264" y="42611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focus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69264" y="4663440"/>
            <a:ext cx="1463040" cy="310896"/>
          </a:xfrm>
          <a:prstGeom prst="roundRect">
            <a:avLst>
              <a:gd name="adj" fmla="val 29412"/>
            </a:avLst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" y="47091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local release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96896" y="4663440"/>
            <a:ext cx="2103120" cy="310896"/>
          </a:xfrm>
          <a:prstGeom prst="roundRect">
            <a:avLst>
              <a:gd name="adj" fmla="val 29412"/>
            </a:avLst>
          </a:prstGeom>
          <a:solidFill>
            <a:srgbClr val="67A9FF">
              <a:alpha val="88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96896" y="4709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production automatically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82896" y="4663440"/>
            <a:ext cx="1691640" cy="310896"/>
          </a:xfrm>
          <a:prstGeom prst="roundRect">
            <a:avLst>
              <a:gd name="adj" fmla="val 29412"/>
            </a:avLst>
          </a:prstGeom>
          <a:solidFill>
            <a:srgbClr val="FB7185">
              <a:alpha val="88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82896" y="47091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alerts + retries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4663440"/>
            <a:ext cx="2011680" cy="310896"/>
          </a:xfrm>
          <a:prstGeom prst="roundRect">
            <a:avLst>
              <a:gd name="adj" fmla="val 29412"/>
            </a:avLst>
          </a:prstGeom>
          <a:solidFill>
            <a:srgbClr val="5EEAD4">
              <a:alpha val="88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4709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Tighten runtime ownership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979408" y="4663440"/>
            <a:ext cx="2011680" cy="310896"/>
          </a:xfrm>
          <a:prstGeom prst="roundRect">
            <a:avLst>
              <a:gd name="adj" fmla="val 29412"/>
            </a:avLst>
          </a:prstGeom>
          <a:solidFill>
            <a:srgbClr val="34D399">
              <a:alpha val="8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79408" y="4709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onboarding + export center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8368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NextStop readiness deck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74420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 w="12700">
            <a:solidFill>
              <a:srgbClr val="09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822960"/>
            <a:ext cx="3383280" cy="3383280"/>
          </a:xfrm>
          <a:prstGeom prst="ellipse">
            <a:avLst/>
          </a:prstGeom>
          <a:solidFill>
            <a:srgbClr val="5EEAD4">
              <a:alpha val="2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389120"/>
            <a:ext cx="2468880" cy="2468880"/>
          </a:xfrm>
          <a:prstGeom prst="ellipse">
            <a:avLst/>
          </a:prstGeom>
          <a:solidFill>
            <a:srgbClr val="67A9FF">
              <a:alpha val="16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120640"/>
            <a:ext cx="2560320" cy="256032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858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5087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3172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5468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006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6235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669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82296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runtime split is finally directionally correct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58368" y="1554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renders the user experience, Railway handles heavy AI work, and Supabase remains the durable system of record.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755648"/>
            <a:ext cx="8138160" cy="29260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9162288" y="1755648"/>
            <a:ext cx="2240280" cy="1207008"/>
          </a:xfrm>
          <a:prstGeom prst="roundRect">
            <a:avLst>
              <a:gd name="adj" fmla="val 9091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400032" y="1993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still lives on Vercel</a:t>
            </a:r>
            <a:endParaRPr lang="en-US" sz="1130" dirty="0"/>
          </a:p>
        </p:txBody>
      </p:sp>
      <p:sp>
        <p:nvSpPr>
          <p:cNvPr id="31" name="Text 28"/>
          <p:cNvSpPr/>
          <p:nvPr/>
        </p:nvSpPr>
        <p:spPr>
          <a:xfrm>
            <a:off x="9400032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Authenticated Next.js API routes
</a:t>
            </a:r>
            <a:pPr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Readiness aggregation
</a:t>
            </a:r>
            <a:pPr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Lightweight export orchestration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9162288" y="3127248"/>
            <a:ext cx="2240280" cy="1554480"/>
          </a:xfrm>
          <a:prstGeom prst="roundRect">
            <a:avLst>
              <a:gd name="adj" fmla="val 7059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400032" y="3364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matters</a:t>
            </a:r>
            <a:endParaRPr lang="en-US" sz="1130" dirty="0"/>
          </a:p>
        </p:txBody>
      </p:sp>
      <p:sp>
        <p:nvSpPr>
          <p:cNvPr id="34" name="Text 31"/>
          <p:cNvSpPr/>
          <p:nvPr/>
        </p:nvSpPr>
        <p:spPr>
          <a:xfrm>
            <a:off x="9400032" y="3657600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execution reduces latency ambiguity
</a:t>
            </a:r>
            <a:pPr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Failure ownership is clearer
</a:t>
            </a:r>
            <a:pPr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remaining boundary debt is visible and manageable</a:t>
            </a:r>
            <a:endParaRPr lang="en-US" sz="960" dirty="0"/>
          </a:p>
        </p:txBody>
      </p:sp>
      <p:sp>
        <p:nvSpPr>
          <p:cNvPr id="35" name="Text 32"/>
          <p:cNvSpPr/>
          <p:nvPr/>
        </p:nvSpPr>
        <p:spPr>
          <a:xfrm>
            <a:off x="658368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NextStop readiness deck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074420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 w="12700">
            <a:solidFill>
              <a:srgbClr val="09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822960"/>
            <a:ext cx="3383280" cy="3383280"/>
          </a:xfrm>
          <a:prstGeom prst="ellipse">
            <a:avLst/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389120"/>
            <a:ext cx="2468880" cy="2468880"/>
          </a:xfrm>
          <a:prstGeom prst="ellipse">
            <a:avLst/>
          </a:prstGeom>
          <a:solidFill>
            <a:srgbClr val="67A9FF">
              <a:alpha val="16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120640"/>
            <a:ext cx="2560320" cy="256032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858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5087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3172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5468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006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6235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669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SURFACE AUDIT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82296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product value is already broad and real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58368" y="1554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remaining work is less about adding existence and more about improving trust, speed, and operability.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3232" y="1828800"/>
            <a:ext cx="2487168" cy="1627632"/>
          </a:xfrm>
          <a:prstGeom prst="roundRect">
            <a:avLst>
              <a:gd name="adj" fmla="val 6742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7824" y="1975104"/>
            <a:ext cx="1170432" cy="310896"/>
          </a:xfrm>
          <a:prstGeom prst="roundRect">
            <a:avLst>
              <a:gd name="adj" fmla="val 29412"/>
            </a:avLst>
          </a:prstGeom>
          <a:solidFill>
            <a:srgbClr val="34D399">
              <a:alpha val="8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202082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6112" y="235915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+ Access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" y="268833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Billing-aware access and gated dashboard entry are already in place.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3502152" y="1828800"/>
            <a:ext cx="2487168" cy="1627632"/>
          </a:xfrm>
          <a:prstGeom prst="roundRect">
            <a:avLst>
              <a:gd name="adj" fmla="val 6742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66744" y="1975104"/>
            <a:ext cx="1170432" cy="310896"/>
          </a:xfrm>
          <a:prstGeom prst="roundRect">
            <a:avLst>
              <a:gd name="adj" fmla="val 29412"/>
            </a:avLst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66744" y="202082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85032" y="235915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Controls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85032" y="268833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sidebar controls are cleaner and more predictable than the old floating rail.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291072" y="1828800"/>
            <a:ext cx="2487168" cy="1627632"/>
          </a:xfrm>
          <a:prstGeom prst="roundRect">
            <a:avLst>
              <a:gd name="adj" fmla="val 6742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55664" y="1975104"/>
            <a:ext cx="1170432" cy="310896"/>
          </a:xfrm>
          <a:prstGeom prst="roundRect">
            <a:avLst>
              <a:gd name="adj" fmla="val 29412"/>
            </a:avLst>
          </a:prstGeom>
          <a:solidFill>
            <a:srgbClr val="67A9FF">
              <a:alpha val="88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55664" y="202082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73952" y="235915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73952" y="268833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library now has lighter loading and a clearer meeting-card contract.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9079992" y="1828800"/>
            <a:ext cx="2487168" cy="1627632"/>
          </a:xfrm>
          <a:prstGeom prst="roundRect">
            <a:avLst>
              <a:gd name="adj" fmla="val 6742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244584" y="1975104"/>
            <a:ext cx="1170432" cy="310896"/>
          </a:xfrm>
          <a:prstGeom prst="roundRect">
            <a:avLst>
              <a:gd name="adj" fmla="val 29412"/>
            </a:avLst>
          </a:prstGeom>
          <a:solidFill>
            <a:srgbClr val="5EEAD4">
              <a:alpha val="88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44584" y="202082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262872" y="235915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+ Exports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62872" y="268833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is more output-first, and export actions now have better telemetry.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13232" y="3794760"/>
            <a:ext cx="2487168" cy="1627632"/>
          </a:xfrm>
          <a:prstGeom prst="roundRect">
            <a:avLst>
              <a:gd name="adj" fmla="val 6742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77824" y="3941064"/>
            <a:ext cx="1170432" cy="310896"/>
          </a:xfrm>
          <a:prstGeom prst="roundRect">
            <a:avLst>
              <a:gd name="adj" fmla="val 29412"/>
            </a:avLst>
          </a:prstGeom>
          <a:solidFill>
            <a:srgbClr val="34D399">
              <a:alpha val="8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7824" y="398678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96112" y="432511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96112" y="465429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scheduling and workspace connection are usable, with reconnect still a watch area.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3502152" y="3794760"/>
            <a:ext cx="2487168" cy="1627632"/>
          </a:xfrm>
          <a:prstGeom prst="roundRect">
            <a:avLst>
              <a:gd name="adj" fmla="val 6742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66744" y="3941064"/>
            <a:ext cx="1170432" cy="310896"/>
          </a:xfrm>
          <a:prstGeom prst="roundRect">
            <a:avLst>
              <a:gd name="adj" fmla="val 29412"/>
            </a:avLst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66744" y="398678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85032" y="432511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Notion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685032" y="465429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Notion export is functional, but destination and OAuth recovery remain important.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6291072" y="3794760"/>
            <a:ext cx="2487168" cy="1627632"/>
          </a:xfrm>
          <a:prstGeom prst="roundRect">
            <a:avLst>
              <a:gd name="adj" fmla="val 6742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55664" y="3941064"/>
            <a:ext cx="1170432" cy="310896"/>
          </a:xfrm>
          <a:prstGeom prst="roundRect">
            <a:avLst>
              <a:gd name="adj" fmla="val 29412"/>
            </a:avLst>
          </a:prstGeom>
          <a:solidFill>
            <a:srgbClr val="FB7185">
              <a:alpha val="88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55664" y="398678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73952" y="432511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Pipeline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473952" y="465429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 execution now belongs on Railway with richer status tracking.</a:t>
            </a:r>
            <a:endParaRPr lang="en-US" sz="980" dirty="0"/>
          </a:p>
        </p:txBody>
      </p:sp>
      <p:sp>
        <p:nvSpPr>
          <p:cNvPr id="63" name="Shape 61"/>
          <p:cNvSpPr/>
          <p:nvPr/>
        </p:nvSpPr>
        <p:spPr>
          <a:xfrm>
            <a:off x="9079992" y="3794760"/>
            <a:ext cx="2487168" cy="1627632"/>
          </a:xfrm>
          <a:prstGeom prst="roundRect">
            <a:avLst>
              <a:gd name="adj" fmla="val 6742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244584" y="3941064"/>
            <a:ext cx="1170432" cy="310896"/>
          </a:xfrm>
          <a:prstGeom prst="roundRect">
            <a:avLst>
              <a:gd name="adj" fmla="val 29412"/>
            </a:avLst>
          </a:prstGeom>
          <a:solidFill>
            <a:srgbClr val="67A9FF">
              <a:alpha val="88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44584" y="398678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262872" y="432511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 Console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262872" y="465429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new readiness dashboard is prepared locally and should ship next.</a:t>
            </a:r>
            <a:endParaRPr lang="en-US" sz="980" dirty="0"/>
          </a:p>
        </p:txBody>
      </p:sp>
      <p:sp>
        <p:nvSpPr>
          <p:cNvPr id="68" name="Text 66"/>
          <p:cNvSpPr/>
          <p:nvPr/>
        </p:nvSpPr>
        <p:spPr>
          <a:xfrm>
            <a:off x="658368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NextStop readiness deck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074420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 w="12700">
            <a:solidFill>
              <a:srgbClr val="09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822960"/>
            <a:ext cx="3383280" cy="3383280"/>
          </a:xfrm>
          <a:prstGeom prst="ellipse">
            <a:avLst/>
          </a:prstGeom>
          <a:solidFill>
            <a:srgbClr val="FB7185">
              <a:alpha val="22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389120"/>
            <a:ext cx="2468880" cy="2468880"/>
          </a:xfrm>
          <a:prstGeom prst="ellipse">
            <a:avLst/>
          </a:prstGeom>
          <a:solidFill>
            <a:srgbClr val="67A9FF">
              <a:alpha val="16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120640"/>
            <a:ext cx="2560320" cy="256032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858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5087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3172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5468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006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6235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669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LANDSCAPE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82296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remaining issues are operational, not existential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58368" y="1554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a good place to be. The app works. The next step is making failure states visible, actionable, and boring.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9808" y="1755648"/>
            <a:ext cx="4754880" cy="603504"/>
          </a:xfrm>
          <a:prstGeom prst="roundRect">
            <a:avLst>
              <a:gd name="adj" fmla="val 18182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1832" y="1901952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FB7185">
              <a:alpha val="88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1947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10512" y="185623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ownership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3127248" y="185623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 authenticated logic still lives in Next.js API routes.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749808" y="2542032"/>
            <a:ext cx="4754880" cy="603504"/>
          </a:xfrm>
          <a:prstGeom prst="roundRect">
            <a:avLst>
              <a:gd name="adj" fmla="val 18182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41832" y="2688336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FB7185">
              <a:alpha val="88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" y="27340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10512" y="264261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tooling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3127248" y="26426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Operators can see failures, but cannot fully resolve them in-app yet.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749808" y="3328416"/>
            <a:ext cx="4754880" cy="603504"/>
          </a:xfrm>
          <a:prstGeom prst="roundRect">
            <a:avLst>
              <a:gd name="adj" fmla="val 18182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41832" y="3474720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FB7185">
              <a:alpha val="88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" y="352044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10512" y="342900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Post-deploy timing</a:t>
            </a:r>
            <a:endParaRPr lang="en-US" sz="1140" dirty="0"/>
          </a:p>
        </p:txBody>
      </p:sp>
      <p:sp>
        <p:nvSpPr>
          <p:cNvPr id="42" name="Text 40"/>
          <p:cNvSpPr/>
          <p:nvPr/>
        </p:nvSpPr>
        <p:spPr>
          <a:xfrm>
            <a:off x="3127248" y="34290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depends on correct envs and live deployment timing.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749808" y="4114800"/>
            <a:ext cx="4754880" cy="603504"/>
          </a:xfrm>
          <a:prstGeom prst="roundRect">
            <a:avLst>
              <a:gd name="adj" fmla="val 18182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41832" y="4261104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FB7185">
              <a:alpha val="88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1832" y="43068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810512" y="421538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recovery</a:t>
            </a:r>
            <a:endParaRPr lang="en-US" sz="1140" dirty="0"/>
          </a:p>
        </p:txBody>
      </p:sp>
      <p:sp>
        <p:nvSpPr>
          <p:cNvPr id="47" name="Text 45"/>
          <p:cNvSpPr/>
          <p:nvPr/>
        </p:nvSpPr>
        <p:spPr>
          <a:xfrm>
            <a:off x="3127248" y="42153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Exports now log failures, but retry tooling is still thin.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749808" y="4901184"/>
            <a:ext cx="4754880" cy="603504"/>
          </a:xfrm>
          <a:prstGeom prst="roundRect">
            <a:avLst>
              <a:gd name="adj" fmla="val 18182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41832" y="5047488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FB7185">
              <a:alpha val="88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1832" y="50932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810512" y="500176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Alerting maturity</a:t>
            </a:r>
            <a:endParaRPr lang="en-US" sz="1140" dirty="0"/>
          </a:p>
        </p:txBody>
      </p:sp>
      <p:sp>
        <p:nvSpPr>
          <p:cNvPr id="52" name="Text 50"/>
          <p:cNvSpPr/>
          <p:nvPr/>
        </p:nvSpPr>
        <p:spPr>
          <a:xfrm>
            <a:off x="3127248" y="50017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Visibility is improving faster than proactive notification.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5852160" y="1755648"/>
            <a:ext cx="4663440" cy="4151376"/>
          </a:xfrm>
          <a:prstGeom prst="roundRect">
            <a:avLst>
              <a:gd name="adj" fmla="val 2643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144768" y="19751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Hardening moves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144768" y="228600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6144768" y="2542032"/>
            <a:ext cx="4069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the local ops and telemetry release before starting new feature work.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worker-heartbeat, queue-backlog, and repeated-failure alerting immediately after release.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retry paths for failed AI jobs and failed exports so support does not require raw DB access.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 moving backend-worthy endpoints off Vercel to make failure domains clearer.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63056" y="5230368"/>
            <a:ext cx="987552" cy="310896"/>
          </a:xfrm>
          <a:prstGeom prst="roundRect">
            <a:avLst>
              <a:gd name="adj" fmla="val 29412"/>
            </a:avLst>
          </a:prstGeom>
          <a:solidFill>
            <a:srgbClr val="34D399">
              <a:alpha val="8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63056" y="527608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now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78624" y="5230368"/>
            <a:ext cx="1261872" cy="310896"/>
          </a:xfrm>
          <a:prstGeom prst="roundRect">
            <a:avLst>
              <a:gd name="adj" fmla="val 29412"/>
            </a:avLst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78624" y="527608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closely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686800" y="5230368"/>
            <a:ext cx="1572768" cy="310896"/>
          </a:xfrm>
          <a:prstGeom prst="roundRect">
            <a:avLst>
              <a:gd name="adj" fmla="val 29412"/>
            </a:avLst>
          </a:prstGeom>
          <a:solidFill>
            <a:srgbClr val="67A9FF">
              <a:alpha val="88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0" y="527608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recovery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58368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NextStop readiness deck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074420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 w="12700">
            <a:solidFill>
              <a:srgbClr val="09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822960"/>
            <a:ext cx="3383280" cy="3383280"/>
          </a:xfrm>
          <a:prstGeom prst="ellipse">
            <a:avLst/>
          </a:prstGeom>
          <a:solidFill>
            <a:srgbClr val="67A9FF">
              <a:alpha val="22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389120"/>
            <a:ext cx="2468880" cy="2468880"/>
          </a:xfrm>
          <a:prstGeom prst="ellipse">
            <a:avLst/>
          </a:prstGeom>
          <a:solidFill>
            <a:srgbClr val="67A9FF">
              <a:alpha val="16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120640"/>
            <a:ext cx="2560320" cy="256032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858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5087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3172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5468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006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6235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669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COMMAND CENTER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82296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release adds a real readiness surface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58368" y="1554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one of the most important maturity upgrades in the branch: it gives an operator a fast answer to whether the system is healthy.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" y="1810512"/>
            <a:ext cx="10469880" cy="4407408"/>
          </a:xfrm>
          <a:prstGeom prst="roundRect">
            <a:avLst>
              <a:gd name="adj" fmla="val 2490"/>
            </a:avLst>
          </a:prstGeom>
          <a:solidFill>
            <a:srgbClr val="0E131C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78992" y="19933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readiness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78992" y="2359152"/>
            <a:ext cx="1298448" cy="310896"/>
          </a:xfrm>
          <a:prstGeom prst="roundRect">
            <a:avLst>
              <a:gd name="adj" fmla="val 29412"/>
            </a:avLst>
          </a:prstGeom>
          <a:solidFill>
            <a:srgbClr val="34D399">
              <a:alpha val="8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24048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healthy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23744" y="2359152"/>
            <a:ext cx="1298448" cy="310896"/>
          </a:xfrm>
          <a:prstGeom prst="roundRect">
            <a:avLst>
              <a:gd name="adj" fmla="val 29412"/>
            </a:avLst>
          </a:prstGeom>
          <a:solidFill>
            <a:srgbClr val="34D399">
              <a:alpha val="8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3744" y="24048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healthy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68496" y="2359152"/>
            <a:ext cx="1243584" cy="310896"/>
          </a:xfrm>
          <a:prstGeom prst="roundRect">
            <a:avLst>
              <a:gd name="adj" fmla="val 29412"/>
            </a:avLst>
          </a:prstGeom>
          <a:solidFill>
            <a:srgbClr val="34D399">
              <a:alpha val="8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68496" y="24048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 healthy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58384" y="2359152"/>
            <a:ext cx="1371600" cy="310896"/>
          </a:xfrm>
          <a:prstGeom prst="roundRect">
            <a:avLst>
              <a:gd name="adj" fmla="val 29412"/>
            </a:avLst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58384" y="2404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Queue: 3 waiting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76288" y="2359152"/>
            <a:ext cx="1627632" cy="310896"/>
          </a:xfrm>
          <a:prstGeom prst="roundRect">
            <a:avLst>
              <a:gd name="adj" fmla="val 29412"/>
            </a:avLst>
          </a:prstGeom>
          <a:solidFill>
            <a:srgbClr val="67A9FF">
              <a:alpha val="88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76288" y="240487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deploy: passed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78992" y="2907792"/>
            <a:ext cx="4526280" cy="2670048"/>
          </a:xfrm>
          <a:prstGeom prst="roundRect">
            <a:avLst>
              <a:gd name="adj" fmla="val 4110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298448" y="3127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AI failures</a:t>
            </a:r>
            <a:endParaRPr lang="en-US" sz="1230" dirty="0"/>
          </a:p>
        </p:txBody>
      </p:sp>
      <p:sp>
        <p:nvSpPr>
          <p:cNvPr id="42" name="Text 40"/>
          <p:cNvSpPr/>
          <p:nvPr/>
        </p:nvSpPr>
        <p:spPr>
          <a:xfrm>
            <a:off x="1316736" y="34747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ID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2743200" y="3474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3749040" y="34747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1298448" y="3730752"/>
            <a:ext cx="3886200" cy="0"/>
          </a:xfrm>
          <a:prstGeom prst="line">
            <a:avLst/>
          </a:prstGeom>
          <a:noFill/>
          <a:ln w="12700">
            <a:solidFill>
              <a:srgbClr val="232B3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16736" y="387705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91e...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2743200" y="38770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transcribe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3749040" y="38770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transcript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1316736" y="444398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a12...</a:t>
            </a:r>
            <a:endParaRPr lang="en-US" sz="1040" dirty="0"/>
          </a:p>
        </p:txBody>
      </p:sp>
      <p:sp>
        <p:nvSpPr>
          <p:cNvPr id="50" name="Text 48"/>
          <p:cNvSpPr/>
          <p:nvPr/>
        </p:nvSpPr>
        <p:spPr>
          <a:xfrm>
            <a:off x="2743200" y="44439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3749040" y="44439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timeout while generating findings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5852160" y="2907792"/>
            <a:ext cx="4736592" cy="2670048"/>
          </a:xfrm>
          <a:prstGeom prst="roundRect">
            <a:avLst>
              <a:gd name="adj" fmla="val 4110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071616" y="31272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boundary + export failures</a:t>
            </a:r>
            <a:endParaRPr lang="en-US" sz="1230" dirty="0"/>
          </a:p>
        </p:txBody>
      </p:sp>
      <p:sp>
        <p:nvSpPr>
          <p:cNvPr id="54" name="Text 52"/>
          <p:cNvSpPr/>
          <p:nvPr/>
        </p:nvSpPr>
        <p:spPr>
          <a:xfrm>
            <a:off x="6089904" y="35112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URL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7223760" y="351129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next-stop-ai-web.vercel.app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6089904" y="38587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core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7223760" y="38587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 direct execution healthy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6089904" y="4133088"/>
            <a:ext cx="3950208" cy="0"/>
          </a:xfrm>
          <a:prstGeom prst="line">
            <a:avLst/>
          </a:prstGeom>
          <a:noFill/>
          <a:ln w="12700">
            <a:solidFill>
              <a:srgbClr val="232B3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89904" y="42793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export</a:t>
            </a:r>
            <a:endParaRPr lang="en-US" sz="1040" dirty="0"/>
          </a:p>
        </p:txBody>
      </p:sp>
      <p:sp>
        <p:nvSpPr>
          <p:cNvPr id="60" name="Text 58"/>
          <p:cNvSpPr/>
          <p:nvPr/>
        </p:nvSpPr>
        <p:spPr>
          <a:xfrm>
            <a:off x="7242048" y="4279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timeout · 1842 ms</a:t>
            </a:r>
            <a:endParaRPr lang="en-US" sz="1020" dirty="0"/>
          </a:p>
        </p:txBody>
      </p:sp>
      <p:sp>
        <p:nvSpPr>
          <p:cNvPr id="61" name="Text 59"/>
          <p:cNvSpPr/>
          <p:nvPr/>
        </p:nvSpPr>
        <p:spPr>
          <a:xfrm>
            <a:off x="6089904" y="4663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Notion export</a:t>
            </a:r>
            <a:endParaRPr lang="en-US" sz="1040" dirty="0"/>
          </a:p>
        </p:txBody>
      </p:sp>
      <p:sp>
        <p:nvSpPr>
          <p:cNvPr id="62" name="Text 60"/>
          <p:cNvSpPr/>
          <p:nvPr/>
        </p:nvSpPr>
        <p:spPr>
          <a:xfrm>
            <a:off x="7242048" y="46634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destination missing</a:t>
            </a:r>
            <a:endParaRPr lang="en-US" sz="1020" dirty="0"/>
          </a:p>
        </p:txBody>
      </p:sp>
      <p:sp>
        <p:nvSpPr>
          <p:cNvPr id="63" name="Text 61"/>
          <p:cNvSpPr/>
          <p:nvPr/>
        </p:nvSpPr>
        <p:spPr>
          <a:xfrm>
            <a:off x="658368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NextStop readiness deck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074420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 w="12700">
            <a:solidFill>
              <a:srgbClr val="09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822960"/>
            <a:ext cx="3383280" cy="338328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389120"/>
            <a:ext cx="2468880" cy="2468880"/>
          </a:xfrm>
          <a:prstGeom prst="ellipse">
            <a:avLst/>
          </a:prstGeom>
          <a:solidFill>
            <a:srgbClr val="67A9FF">
              <a:alpha val="16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120640"/>
            <a:ext cx="2560320" cy="256032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858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5087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3172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5468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006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6235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669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SAFETY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82296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and post-deploy verification are now credible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58368" y="1554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release process is not enterprise-grade, but it is disciplined enough for the current stage and much stronger than before.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783080"/>
            <a:ext cx="10698480" cy="242316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749808" y="452628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87552" y="47365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strong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87552" y="50109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+ security + deployed verification now form a coherent release story.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89120" y="452628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626864" y="47365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manual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626864" y="50109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and some deeper production assertions still need stronger automation.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8028432" y="4526280"/>
            <a:ext cx="3236976" cy="1143000"/>
          </a:xfrm>
          <a:prstGeom prst="roundRect">
            <a:avLst>
              <a:gd name="adj" fmla="val 9600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8266176" y="47365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locally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266176" y="50109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typecheck, lint, coverage, build, and backend typecheck all passed.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58368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NextStop readiness deck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074420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 w="12700">
            <a:solidFill>
              <a:srgbClr val="09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822960"/>
            <a:ext cx="3383280" cy="3383280"/>
          </a:xfrm>
          <a:prstGeom prst="ellipse">
            <a:avLst/>
          </a:prstGeom>
          <a:solidFill>
            <a:srgbClr val="5EEAD4">
              <a:alpha val="2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389120"/>
            <a:ext cx="2468880" cy="2468880"/>
          </a:xfrm>
          <a:prstGeom prst="ellipse">
            <a:avLst/>
          </a:prstGeom>
          <a:solidFill>
            <a:srgbClr val="67A9FF">
              <a:alpha val="16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120640"/>
            <a:ext cx="2560320" cy="256032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858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5087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3172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5468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006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6235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669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82296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the release, then harden the machine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58368" y="1554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right sequence is release first, instrumentation second, structural cleanup third, and larger product growth after the operating layer feels boring.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9808" y="1847088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50976" y="2048256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release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69264" y="2468880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2404872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/dashboard/ops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969264" y="3182112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311810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export telemetry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969264" y="3895344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0432" y="383133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post-deploy verify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969264" y="4608576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0432" y="4544568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runtime docs + runbook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3639312" y="1847088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840480" y="2048256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2 weeks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858768" y="24688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2404872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alerts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3858768" y="31821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59936" y="311810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AI/export retries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3858768" y="389534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59936" y="383133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live retention policy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3858768" y="460857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59936" y="4544568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structured production smoke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6528816" y="1847088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729984" y="2048256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7A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30-60 days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748272" y="2468880"/>
            <a:ext cx="118872" cy="118872"/>
          </a:xfrm>
          <a:prstGeom prst="ellipse">
            <a:avLst/>
          </a:prstGeom>
          <a:solidFill>
            <a:srgbClr val="67A9FF"/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2404872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more backend routes to Railway</a:t>
            </a:r>
            <a:endParaRPr lang="en-US" sz="1030" dirty="0"/>
          </a:p>
        </p:txBody>
      </p:sp>
      <p:sp>
        <p:nvSpPr>
          <p:cNvPr id="52" name="Shape 50"/>
          <p:cNvSpPr/>
          <p:nvPr/>
        </p:nvSpPr>
        <p:spPr>
          <a:xfrm>
            <a:off x="6748272" y="3182112"/>
            <a:ext cx="118872" cy="118872"/>
          </a:xfrm>
          <a:prstGeom prst="ellipse">
            <a:avLst/>
          </a:prstGeom>
          <a:solidFill>
            <a:srgbClr val="67A9FF"/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311810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export center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6748272" y="3895344"/>
            <a:ext cx="118872" cy="118872"/>
          </a:xfrm>
          <a:prstGeom prst="ellipse">
            <a:avLst/>
          </a:prstGeom>
          <a:solidFill>
            <a:srgbClr val="67A9FF"/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0" y="383133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onboarding checklist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6748272" y="4608576"/>
            <a:ext cx="118872" cy="118872"/>
          </a:xfrm>
          <a:prstGeom prst="ellipse">
            <a:avLst/>
          </a:prstGeom>
          <a:solidFill>
            <a:srgbClr val="67A9FF"/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0" y="4544568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timing dashboard</a:t>
            </a:r>
            <a:endParaRPr lang="en-US" sz="1030" dirty="0"/>
          </a:p>
        </p:txBody>
      </p:sp>
      <p:sp>
        <p:nvSpPr>
          <p:cNvPr id="58" name="Shape 56"/>
          <p:cNvSpPr/>
          <p:nvPr/>
        </p:nvSpPr>
        <p:spPr>
          <a:xfrm>
            <a:off x="9418320" y="1847088"/>
            <a:ext cx="2011680" cy="4114800"/>
          </a:xfrm>
          <a:prstGeom prst="roundRect">
            <a:avLst>
              <a:gd name="adj" fmla="val 5455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619488" y="20482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9637776" y="2468880"/>
            <a:ext cx="118872" cy="11887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38944" y="240487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Searchable intelligence</a:t>
            </a:r>
            <a:endParaRPr lang="en-US" sz="1030" dirty="0"/>
          </a:p>
        </p:txBody>
      </p:sp>
      <p:sp>
        <p:nvSpPr>
          <p:cNvPr id="62" name="Shape 60"/>
          <p:cNvSpPr/>
          <p:nvPr/>
        </p:nvSpPr>
        <p:spPr>
          <a:xfrm>
            <a:off x="9637776" y="3182112"/>
            <a:ext cx="118872" cy="11887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38944" y="311810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+ collaboration</a:t>
            </a:r>
            <a:endParaRPr lang="en-US" sz="1030" dirty="0"/>
          </a:p>
        </p:txBody>
      </p:sp>
      <p:sp>
        <p:nvSpPr>
          <p:cNvPr id="64" name="Shape 62"/>
          <p:cNvSpPr/>
          <p:nvPr/>
        </p:nvSpPr>
        <p:spPr>
          <a:xfrm>
            <a:off x="9637776" y="3895344"/>
            <a:ext cx="118872" cy="11887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38944" y="38313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eval set</a:t>
            </a:r>
            <a:endParaRPr lang="en-US" sz="1030" dirty="0"/>
          </a:p>
        </p:txBody>
      </p:sp>
      <p:sp>
        <p:nvSpPr>
          <p:cNvPr id="66" name="Shape 64"/>
          <p:cNvSpPr/>
          <p:nvPr/>
        </p:nvSpPr>
        <p:spPr>
          <a:xfrm>
            <a:off x="9637776" y="4608576"/>
            <a:ext cx="118872" cy="11887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38944" y="45445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Possible backend consolidation</a:t>
            </a:r>
            <a:endParaRPr lang="en-US" sz="1030" dirty="0"/>
          </a:p>
        </p:txBody>
      </p:sp>
      <p:sp>
        <p:nvSpPr>
          <p:cNvPr id="68" name="Text 66"/>
          <p:cNvSpPr/>
          <p:nvPr/>
        </p:nvSpPr>
        <p:spPr>
          <a:xfrm>
            <a:off x="658368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NextStop readiness deck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074420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 w="12700">
            <a:solidFill>
              <a:srgbClr val="09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822960"/>
            <a:ext cx="3383280" cy="3383280"/>
          </a:xfrm>
          <a:prstGeom prst="ellipse">
            <a:avLst/>
          </a:prstGeom>
          <a:solidFill>
            <a:srgbClr val="FFB347">
              <a:alpha val="22000"/>
            </a:srgbClr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389120"/>
            <a:ext cx="2468880" cy="2468880"/>
          </a:xfrm>
          <a:prstGeom prst="ellipse">
            <a:avLst/>
          </a:prstGeom>
          <a:solidFill>
            <a:srgbClr val="67A9FF">
              <a:alpha val="16000"/>
            </a:srgbClr>
          </a:solidFill>
          <a:ln w="12700">
            <a:solidFill>
              <a:srgbClr val="67A9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120640"/>
            <a:ext cx="2560320" cy="256032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502920"/>
            <a:ext cx="0" cy="5669280"/>
          </a:xfrm>
          <a:prstGeom prst="line">
            <a:avLst/>
          </a:prstGeom>
          <a:noFill/>
          <a:ln w="3810">
            <a:solidFill>
              <a:srgbClr val="232B3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858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5087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3172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5468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0060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623560"/>
            <a:ext cx="11064240" cy="0"/>
          </a:xfrm>
          <a:prstGeom prst="line">
            <a:avLst/>
          </a:prstGeom>
          <a:noFill/>
          <a:ln w="3810">
            <a:solidFill>
              <a:srgbClr val="232B39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669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82296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the release. Then make operations boring.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58368" y="1554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 is ready enough to move forward. The most important next wins are not new product surfaces, but clearer ownership, faster recovery, and better production visibility.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9808" y="1874520"/>
            <a:ext cx="6400800" cy="3337560"/>
          </a:xfrm>
          <a:prstGeom prst="roundRect">
            <a:avLst>
              <a:gd name="adj" fmla="val 3288"/>
            </a:avLst>
          </a:prstGeom>
          <a:solidFill>
            <a:srgbClr val="161C28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42416" y="21579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immediate decisions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42416" y="250545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42416" y="2761488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the already-prepared local branch rather than holding it for more redesign work.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new post-deploy verification path as the gate for confidence, not intuition.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9A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 the next cycle in ops maturity, retries, alerts, and runtime cleanup before broad feature expansion.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24928" y="1874520"/>
            <a:ext cx="3822192" cy="3337560"/>
          </a:xfrm>
          <a:prstGeom prst="roundRect">
            <a:avLst>
              <a:gd name="adj" fmla="val 3288"/>
            </a:avLst>
          </a:prstGeom>
          <a:solidFill>
            <a:srgbClr val="111722"/>
          </a:solidFill>
          <a:ln w="12700">
            <a:solidFill>
              <a:srgbClr val="232B3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now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Hardening next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later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7882128" y="3749040"/>
            <a:ext cx="2651760" cy="310896"/>
          </a:xfrm>
          <a:prstGeom prst="roundRect">
            <a:avLst>
              <a:gd name="adj" fmla="val 29412"/>
            </a:avLst>
          </a:prstGeom>
          <a:solidFill>
            <a:srgbClr val="34D399">
              <a:alpha val="8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82128" y="37947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production: yes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82128" y="4187952"/>
            <a:ext cx="2651760" cy="310896"/>
          </a:xfrm>
          <a:prstGeom prst="roundRect">
            <a:avLst>
              <a:gd name="adj" fmla="val 29412"/>
            </a:avLst>
          </a:prstGeom>
          <a:solidFill>
            <a:srgbClr val="FB7185">
              <a:alpha val="88000"/>
            </a:srgbClr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42336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 production: not yet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NextStop readiness deck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74420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0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NextStop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NextStop Readiness Pitch Deck</dc:title>
  <dc:subject>NextStop Post-Production Readiness</dc:subject>
  <dc:creator>OpenAI Codex</dc:creator>
  <cp:lastModifiedBy>OpenAI Codex</cp:lastModifiedBy>
  <cp:revision>1</cp:revision>
  <dcterms:created xsi:type="dcterms:W3CDTF">2026-04-01T18:06:27Z</dcterms:created>
  <dcterms:modified xsi:type="dcterms:W3CDTF">2026-04-01T18:06:27Z</dcterms:modified>
</cp:coreProperties>
</file>